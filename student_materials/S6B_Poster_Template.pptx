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43891200" cy="32918400"/>
  <p:notesSz cx="32918400" cy="4389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0" cy="329184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3891200" cy="47548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54880"/>
            <a:ext cx="43891200" cy="20116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20040"/>
            <a:ext cx="42245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RESEARCH TITLE]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22452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E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Member Names] and [Instructor Name]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E0E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Chemistry II Laboratory, CUNY Hostos Community College, Bronx, NY 10451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0" y="30723840"/>
            <a:ext cx="43891200" cy="21945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30522672"/>
            <a:ext cx="43891200" cy="20116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769560"/>
            <a:ext cx="42245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0E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Hostos Community College  |  Department of Natural Sciences  |  amanukyan@hostos.cuny.edu  |  [Conference Name, Year]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5166360"/>
            <a:ext cx="14264640" cy="2537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5361920" y="5166360"/>
            <a:ext cx="14264640" cy="2537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266640" y="5166360"/>
            <a:ext cx="14264640" cy="2537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5440680"/>
            <a:ext cx="14264640" cy="685800"/>
          </a:xfrm>
          <a:prstGeom prst="rect">
            <a:avLst/>
          </a:prstGeom>
          <a:solidFill>
            <a:srgbClr val="2A7B8C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6126480"/>
            <a:ext cx="14264640" cy="6400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5440680"/>
            <a:ext cx="139354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Introduction &amp; Background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85800" y="6355080"/>
            <a:ext cx="1380744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HTLV-1 infects 5–10 million people worldwide; 2–6% develop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adult T-cell leukemia/lymphoma (ATL), with &lt;20% five-year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survival for aggressive subtypes (Gonçalves et al., 2010).</a:t>
            </a:r>
            <a:endParaRPr lang="en-US" sz="1900" dirty="0"/>
          </a:p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900" dirty="0"/>
          </a:p>
          <a:p>
            <a:pPr marL="342900" indent="-342900">
              <a:buSzPct val="100000"/>
              <a:buChar char="•"/>
            </a:pPr>
            <a:r>
              <a:rPr lang="en-US" sz="1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approved anti-HTLV-1 protease drug exists</a:t>
            </a:r>
            <a:endParaRPr lang="en-US" sz="1900" dirty="0"/>
          </a:p>
          <a:p>
            <a:pPr marL="342900" indent="-342900">
              <a:buSzPct val="100000"/>
              <a:buChar char="•"/>
            </a:pPr>
            <a:r>
              <a:rPr lang="en-US" sz="1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HTLV-1 protease homodimer requires Asp32 from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both monomers for catalysis (Li et al., 1995)</a:t>
            </a:r>
            <a:endParaRPr lang="en-US" sz="1900" dirty="0"/>
          </a:p>
          <a:p>
            <a:pPr marL="342900" indent="-342900">
              <a:buSzPct val="100000"/>
              <a:buChar char="•"/>
            </a:pPr>
            <a:r>
              <a:rPr lang="en-US" sz="1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polyproline loop (residues 91–100) spans the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dimer interface and borders the binding cleft</a:t>
            </a:r>
            <a:endParaRPr lang="en-US" sz="1900" dirty="0"/>
          </a:p>
          <a:p>
            <a:pPr marL="342900" indent="-342900">
              <a:buSzPct val="100000"/>
              <a:buChar char="•"/>
            </a:pPr>
            <a:r>
              <a:rPr lang="en-US" sz="1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inhibitor scaffolds induce distinct loop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conformations in crystal structures</a:t>
            </a:r>
            <a:endParaRPr lang="en-US" sz="1900" dirty="0"/>
          </a:p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[EDIT: Add 2–3 sentences describing your inhibitor class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its key functional groups. Cite your literature packet.]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457200" y="11384280"/>
            <a:ext cx="14264640" cy="685800"/>
          </a:xfrm>
          <a:prstGeom prst="rect">
            <a:avLst/>
          </a:prstGeom>
          <a:solidFill>
            <a:srgbClr val="2A7B8C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12070080"/>
            <a:ext cx="14264640" cy="6400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" y="11384280"/>
            <a:ext cx="139354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Research Question &amp; Hypothesis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85800" y="12298680"/>
            <a:ext cx="1380744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Question: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[inhibitor class] binding affect the conformational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flexibility of the HTLV-1 protease polyproline loop?</a:t>
            </a:r>
            <a:endParaRPr lang="en-US" sz="1900" dirty="0"/>
          </a:p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Hypothesis: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hypothesized that [inhibitor class] binding would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[restrict / enhance / not affect] polyproline loop flexibility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to the unbound protease, because [one sentence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mechanistic reasoning using IMFs or thermodynamics].</a:t>
            </a:r>
            <a:endParaRPr lang="en-US" sz="1900" dirty="0"/>
          </a:p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predicted a loop RMSD of approximately [X] Å and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H-bond occupancy to loop residues of [X]%.</a:t>
            </a:r>
            <a:endParaRPr lang="en-US" sz="1900" dirty="0"/>
          </a:p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[EDIT: Replace bracketed text with your actual hypothesis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your Week 8 research proposal.]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457200" y="17602200"/>
            <a:ext cx="14264640" cy="685800"/>
          </a:xfrm>
          <a:prstGeom prst="rect">
            <a:avLst/>
          </a:prstGeom>
          <a:solidFill>
            <a:srgbClr val="2A7B8C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18288000"/>
            <a:ext cx="14264640" cy="6400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" y="17602200"/>
            <a:ext cx="139354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Methods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85800" y="18516600"/>
            <a:ext cx="1380744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Platform: Narupa iMD-VR (Jamieson-Binnie et al., 2020)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Structure: HTLV-1 protease + [inhibitor] (PDB: XXXX)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Trajectory: [X] ns production run, saved every [X] ps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Field: [CHARMM36 / AMBER ff14SB]</a:t>
            </a:r>
            <a:endParaRPr lang="en-US" sz="1800" dirty="0"/>
          </a:p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(Notebook 5, Supplement S3):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backbone RMSD (equilibration check)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Polyproline loop RMSD, residues 91–100, both chains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Per-residue RMSF (loop flexibility profile)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H-bond occupancy: 3.5 Å distance, 120° angle cutoffs</a:t>
            </a:r>
            <a:endParaRPr lang="en-US" sz="1800" dirty="0"/>
          </a:p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[EDIT: Fill in actual PDB ID, trajectory length, and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field from your simulation setup.]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5361920" y="5440680"/>
            <a:ext cx="14264640" cy="685800"/>
          </a:xfrm>
          <a:prstGeom prst="rect">
            <a:avLst/>
          </a:prstGeom>
          <a:solidFill>
            <a:srgbClr val="2A7B8C"/>
          </a:solidFill>
          <a:ln/>
        </p:spPr>
      </p:sp>
      <p:sp>
        <p:nvSpPr>
          <p:cNvPr id="26" name="Shape 24"/>
          <p:cNvSpPr/>
          <p:nvPr/>
        </p:nvSpPr>
        <p:spPr>
          <a:xfrm>
            <a:off x="15361920" y="6126480"/>
            <a:ext cx="14264640" cy="6400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7" name="Text 25"/>
          <p:cNvSpPr/>
          <p:nvPr/>
        </p:nvSpPr>
        <p:spPr>
          <a:xfrm>
            <a:off x="15526512" y="5440680"/>
            <a:ext cx="139354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Results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15590520" y="6355080"/>
            <a:ext cx="13807440" cy="5029200"/>
          </a:xfrm>
          <a:prstGeom prst="rect">
            <a:avLst/>
          </a:prstGeom>
          <a:solidFill>
            <a:srgbClr val="E0E4E8"/>
          </a:solidFill>
          <a:ln w="12700">
            <a:solidFill>
              <a:srgbClr val="2A7B8C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5773400" y="6355080"/>
            <a:ext cx="13441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</a:t>
            </a:r>
            <a:pPr algn="ctr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1: Global Backbone RMSD</a:t>
            </a:r>
            <a:endParaRPr lang="en-US" sz="28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(from Notebook 5, Section 2)</a:t>
            </a:r>
            <a:endParaRPr lang="en-US" sz="28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with your figure from Notebook 5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15590520" y="11612880"/>
            <a:ext cx="1380744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RMSD: [X] ± [X] Å (production phase)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Protein remained stable; simulation is valid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5590520" y="12710160"/>
            <a:ext cx="13807440" cy="5029200"/>
          </a:xfrm>
          <a:prstGeom prst="rect">
            <a:avLst/>
          </a:prstGeom>
          <a:solidFill>
            <a:srgbClr val="E0E4E8"/>
          </a:solidFill>
          <a:ln w="12700">
            <a:solidFill>
              <a:srgbClr val="2A7B8C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5773400" y="12710160"/>
            <a:ext cx="13441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</a:t>
            </a:r>
            <a:pPr algn="ctr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2: Polyproline Loop RMSD &amp; RMSF</a:t>
            </a:r>
            <a:endParaRPr lang="en-US" sz="28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(from Notebook 5, Sections 3–4)</a:t>
            </a:r>
            <a:endParaRPr lang="en-US" sz="28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with your figure from Notebook 5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15590520" y="17967960"/>
            <a:ext cx="1380744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RMSD: [X] ± [X] Å  |  Max: [X] Å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flexible residue: [X] ([X] Å RMSF)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Loop was [flexible / restricted / moderately restricted]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5590520" y="19339560"/>
            <a:ext cx="13807440" cy="5029200"/>
          </a:xfrm>
          <a:prstGeom prst="rect">
            <a:avLst/>
          </a:prstGeom>
          <a:solidFill>
            <a:srgbClr val="E0E4E8"/>
          </a:solidFill>
          <a:ln w="12700">
            <a:solidFill>
              <a:srgbClr val="2A7B8C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5773400" y="19339560"/>
            <a:ext cx="134416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</a:t>
            </a:r>
            <a:pPr algn="ctr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3: H-Bond Occupancy</a:t>
            </a:r>
            <a:endParaRPr lang="en-US" sz="28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(from Notebook 5, Section 5)</a:t>
            </a:r>
            <a:endParaRPr lang="en-US" sz="28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with your figure from Notebook 5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15590520" y="24597360"/>
            <a:ext cx="1380744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inhibitor–protease H-bonds: [X]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Strongest: [Donor] → [Acceptor],  [X]% occupancy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H-bond (max): Res [X],  [X]% occupancy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30266640" y="5440680"/>
            <a:ext cx="14264640" cy="685800"/>
          </a:xfrm>
          <a:prstGeom prst="rect">
            <a:avLst/>
          </a:prstGeom>
          <a:solidFill>
            <a:srgbClr val="2A7B8C"/>
          </a:solidFill>
          <a:ln/>
        </p:spPr>
      </p:sp>
      <p:sp>
        <p:nvSpPr>
          <p:cNvPr id="38" name="Shape 36"/>
          <p:cNvSpPr/>
          <p:nvPr/>
        </p:nvSpPr>
        <p:spPr>
          <a:xfrm>
            <a:off x="30266640" y="6126480"/>
            <a:ext cx="14264640" cy="6400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9" name="Text 37"/>
          <p:cNvSpPr/>
          <p:nvPr/>
        </p:nvSpPr>
        <p:spPr>
          <a:xfrm>
            <a:off x="30431232" y="5440680"/>
            <a:ext cx="139354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Cross-Team Comparison</a:t>
            </a:r>
            <a:endParaRPr lang="en-US" sz="2600" dirty="0"/>
          </a:p>
        </p:txBody>
      </p:sp>
      <p:sp>
        <p:nvSpPr>
          <p:cNvPr id="40" name="Shape 38"/>
          <p:cNvSpPr/>
          <p:nvPr/>
        </p:nvSpPr>
        <p:spPr>
          <a:xfrm>
            <a:off x="30495240" y="6355080"/>
            <a:ext cx="13807440" cy="5486400"/>
          </a:xfrm>
          <a:prstGeom prst="rect">
            <a:avLst/>
          </a:prstGeom>
          <a:solidFill>
            <a:srgbClr val="E0E4E8"/>
          </a:solidFill>
          <a:ln w="12700">
            <a:solidFill>
              <a:srgbClr val="2A7B8C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30678120" y="6355080"/>
            <a:ext cx="1344168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</a:t>
            </a:r>
            <a:pPr algn="ctr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4: Statine vs. AHPPA vs. HEA</a:t>
            </a:r>
            <a:endParaRPr lang="en-US" sz="28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RMSD &amp; H-Bond Occupancy</a:t>
            </a:r>
            <a:endParaRPr lang="en-US" sz="28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(from Notebook 5, Section 7)</a:t>
            </a:r>
            <a:endParaRPr lang="en-US" sz="28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with your figure from Notebook 5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30495240" y="12070080"/>
            <a:ext cx="1380744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restricted loop:  [inhibitor class], [X] Å RMSD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flexible loop:    [inhibitor class], [X] Å RMSD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[Correlation / no correlation] between loop H-bond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occupancy and loop RMSD across the three classes.</a:t>
            </a:r>
            <a:endParaRPr lang="en-US" sz="1800" dirty="0"/>
          </a:p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[EDIT: Fill in actual class comparison results.]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30266640" y="14996160"/>
            <a:ext cx="14264640" cy="685800"/>
          </a:xfrm>
          <a:prstGeom prst="rect">
            <a:avLst/>
          </a:prstGeom>
          <a:solidFill>
            <a:srgbClr val="2A7B8C"/>
          </a:solidFill>
          <a:ln/>
        </p:spPr>
      </p:sp>
      <p:sp>
        <p:nvSpPr>
          <p:cNvPr id="44" name="Shape 42"/>
          <p:cNvSpPr/>
          <p:nvPr/>
        </p:nvSpPr>
        <p:spPr>
          <a:xfrm>
            <a:off x="30266640" y="15681960"/>
            <a:ext cx="14264640" cy="6400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5" name="Text 43"/>
          <p:cNvSpPr/>
          <p:nvPr/>
        </p:nvSpPr>
        <p:spPr>
          <a:xfrm>
            <a:off x="30431232" y="14996160"/>
            <a:ext cx="139354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Discussion &amp; Chemistry Connection</a:t>
            </a: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>
            <a:off x="30495240" y="15910560"/>
            <a:ext cx="1380744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results [support / contradict] the hypothesis that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[inhibitor class] restricts the polyproline loop.</a:t>
            </a:r>
            <a:endParaRPr lang="en-US" sz="1800" dirty="0"/>
          </a:p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Thermodynamic interpretation: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 loop (low RMSD) → ΔS &lt; 0 (unfavorable)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Counteracted by strong H-bonds: ΔH &lt; 0 (favorable)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 H-bond ΔG ≈ −RT ln K ≈ [X] kJ/mol</a:t>
            </a:r>
            <a:endParaRPr lang="en-US" sz="1800" dirty="0"/>
          </a:p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Gen Chem II connection: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[1–2 sentences connecting your results to a specific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Chem II concept: IMFs, thermodynamics, equilibrium,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kinetics. Be explicit and specific.]</a:t>
            </a:r>
            <a:endParaRPr lang="en-US" sz="1800" dirty="0"/>
          </a:p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Limitation: 5–10 ns simulation may not sample all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conformational states; longer simulations needed.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30266640" y="21854160"/>
            <a:ext cx="14264640" cy="685800"/>
          </a:xfrm>
          <a:prstGeom prst="rect">
            <a:avLst/>
          </a:prstGeom>
          <a:solidFill>
            <a:srgbClr val="2A7B8C"/>
          </a:solidFill>
          <a:ln/>
        </p:spPr>
      </p:sp>
      <p:sp>
        <p:nvSpPr>
          <p:cNvPr id="48" name="Shape 46"/>
          <p:cNvSpPr/>
          <p:nvPr/>
        </p:nvSpPr>
        <p:spPr>
          <a:xfrm>
            <a:off x="30266640" y="22539960"/>
            <a:ext cx="14264640" cy="6400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9" name="Text 47"/>
          <p:cNvSpPr/>
          <p:nvPr/>
        </p:nvSpPr>
        <p:spPr>
          <a:xfrm>
            <a:off x="30431232" y="21854160"/>
            <a:ext cx="139354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Conclusions &amp; Future Directions</a:t>
            </a:r>
            <a:endParaRPr lang="en-US" sz="2600" dirty="0"/>
          </a:p>
        </p:txBody>
      </p:sp>
      <p:sp>
        <p:nvSpPr>
          <p:cNvPr id="50" name="Text 48"/>
          <p:cNvSpPr/>
          <p:nvPr/>
        </p:nvSpPr>
        <p:spPr>
          <a:xfrm>
            <a:off x="30495240" y="22768560"/>
            <a:ext cx="1380744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[Inhibitor class] binding resulted in loop RMSD of [X] Å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[X] H-bond contacts to protease, strongest [X]%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[One sentence on what this means for loop dynamics]</a:t>
            </a:r>
            <a:endParaRPr lang="en-US" sz="1800" dirty="0"/>
          </a:p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Directions: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Microsecond simulations to capture full loop dynamics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specific follow-up experiment from manuscript]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Multi-institutional replication with additional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inhibitor scaffolds targeting loop residues</a:t>
            </a:r>
            <a:endParaRPr lang="en-US" sz="1800" dirty="0"/>
          </a:p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[List 3–4 key citations here, ACS format,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 size 14pt is acceptable for poster references.]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457200" y="25420320"/>
            <a:ext cx="14264640" cy="4937760"/>
          </a:xfrm>
          <a:prstGeom prst="rect">
            <a:avLst/>
          </a:prstGeom>
          <a:solidFill>
            <a:srgbClr val="FFF9E6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" y="25557480"/>
            <a:ext cx="138988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4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🖊  EDITING INSTRUCTIONS (delete this box before printing)
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5A4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Replace ALL bracketed text [like this] with your actual data
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5A4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Replace Figure placeholder boxes with your PNG exports from Notebook 5
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5A4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Right-click placeholder → "Replace picture" → select your PNG file
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5A4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Minimum font size: 18pt (must be readable from 3 feet)
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5A4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Print at 36"×48" (landscape). Check with copy center for bleed settings.
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5A4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Delete this yellow box before printing
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HTLV-1 Protease CURE Poster Template</dc:title>
  <dc:subject>PptxGenJS Presentation</dc:subject>
  <dc:creator>Anna K. Manukyan</dc:creator>
  <cp:lastModifiedBy>Anna K. Manukyan</cp:lastModifiedBy>
  <cp:revision>1</cp:revision>
  <dcterms:created xsi:type="dcterms:W3CDTF">2026-03-14T19:04:01Z</dcterms:created>
  <dcterms:modified xsi:type="dcterms:W3CDTF">2026-03-14T19:04:01Z</dcterms:modified>
</cp:coreProperties>
</file>